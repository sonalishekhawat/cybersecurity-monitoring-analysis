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1" r:id="rId25"/>
    <p:sldId id="282" r:id="rId26"/>
    <p:sldId id="28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107E1E-9269-42A6-876A-4927E1EE5193}" v="4" dt="2026-03-19T10:47:15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Shekhawat" userId="0309683e1721122f" providerId="LiveId" clId="{81579934-A0E3-4E5B-A9C3-621F00061F9F}"/>
    <pc:docChg chg="custSel delSld modSld">
      <pc:chgData name="Sonali Shekhawat" userId="0309683e1721122f" providerId="LiveId" clId="{81579934-A0E3-4E5B-A9C3-621F00061F9F}" dt="2026-03-19T10:50:06.378" v="66" actId="478"/>
      <pc:docMkLst>
        <pc:docMk/>
      </pc:docMkLst>
      <pc:sldChg chg="delSp mod">
        <pc:chgData name="Sonali Shekhawat" userId="0309683e1721122f" providerId="LiveId" clId="{81579934-A0E3-4E5B-A9C3-621F00061F9F}" dt="2026-03-19T10:43:42.822" v="1" actId="478"/>
        <pc:sldMkLst>
          <pc:docMk/>
          <pc:sldMk cId="0" sldId="256"/>
        </pc:sldMkLst>
        <pc:spChg chg="del">
          <ac:chgData name="Sonali Shekhawat" userId="0309683e1721122f" providerId="LiveId" clId="{81579934-A0E3-4E5B-A9C3-621F00061F9F}" dt="2026-03-19T10:43:38.083" v="0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3:42.822" v="1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3:42.822" v="1" actId="478"/>
          <ac:spMkLst>
            <pc:docMk/>
            <pc:sldMk cId="0" sldId="256"/>
            <ac:spMk id="18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44:07.529" v="12" actId="20577"/>
        <pc:sldMkLst>
          <pc:docMk/>
          <pc:sldMk cId="0" sldId="257"/>
        </pc:sldMkLst>
        <pc:spChg chg="mod">
          <ac:chgData name="Sonali Shekhawat" userId="0309683e1721122f" providerId="LiveId" clId="{81579934-A0E3-4E5B-A9C3-621F00061F9F}" dt="2026-03-19T10:44:07.529" v="12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3:59.367" v="3" actId="478"/>
          <ac:spMkLst>
            <pc:docMk/>
            <pc:sldMk cId="0" sldId="257"/>
            <ac:spMk id="6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3:57.396" v="2" actId="478"/>
          <ac:spMkLst>
            <pc:docMk/>
            <pc:sldMk cId="0" sldId="257"/>
            <ac:spMk id="61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4:19.875" v="14" actId="478"/>
        <pc:sldMkLst>
          <pc:docMk/>
          <pc:sldMk cId="0" sldId="258"/>
        </pc:sldMkLst>
        <pc:spChg chg="del">
          <ac:chgData name="Sonali Shekhawat" userId="0309683e1721122f" providerId="LiveId" clId="{81579934-A0E3-4E5B-A9C3-621F00061F9F}" dt="2026-03-19T10:44:19.875" v="14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4:16.245" v="13" actId="478"/>
          <ac:spMkLst>
            <pc:docMk/>
            <pc:sldMk cId="0" sldId="258"/>
            <ac:spMk id="2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4:30.914" v="16" actId="478"/>
        <pc:sldMkLst>
          <pc:docMk/>
          <pc:sldMk cId="0" sldId="259"/>
        </pc:sldMkLst>
        <pc:spChg chg="del">
          <ac:chgData name="Sonali Shekhawat" userId="0309683e1721122f" providerId="LiveId" clId="{81579934-A0E3-4E5B-A9C3-621F00061F9F}" dt="2026-03-19T10:44:30.914" v="16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4:28.623" v="15" actId="478"/>
          <ac:spMkLst>
            <pc:docMk/>
            <pc:sldMk cId="0" sldId="259"/>
            <ac:spMk id="29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4:40.521" v="18" actId="478"/>
        <pc:sldMkLst>
          <pc:docMk/>
          <pc:sldMk cId="0" sldId="260"/>
        </pc:sldMkLst>
        <pc:spChg chg="del">
          <ac:chgData name="Sonali Shekhawat" userId="0309683e1721122f" providerId="LiveId" clId="{81579934-A0E3-4E5B-A9C3-621F00061F9F}" dt="2026-03-19T10:44:40.521" v="18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4:37.640" v="17" actId="478"/>
          <ac:spMkLst>
            <pc:docMk/>
            <pc:sldMk cId="0" sldId="260"/>
            <ac:spMk id="24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4:49.654" v="20" actId="478"/>
        <pc:sldMkLst>
          <pc:docMk/>
          <pc:sldMk cId="0" sldId="261"/>
        </pc:sldMkLst>
        <pc:spChg chg="del">
          <ac:chgData name="Sonali Shekhawat" userId="0309683e1721122f" providerId="LiveId" clId="{81579934-A0E3-4E5B-A9C3-621F00061F9F}" dt="2026-03-19T10:44:49.654" v="20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4:46.822" v="19" actId="478"/>
          <ac:spMkLst>
            <pc:docMk/>
            <pc:sldMk cId="0" sldId="261"/>
            <ac:spMk id="2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5:01.353" v="22" actId="478"/>
        <pc:sldMkLst>
          <pc:docMk/>
          <pc:sldMk cId="0" sldId="262"/>
        </pc:sldMkLst>
        <pc:spChg chg="del">
          <ac:chgData name="Sonali Shekhawat" userId="0309683e1721122f" providerId="LiveId" clId="{81579934-A0E3-4E5B-A9C3-621F00061F9F}" dt="2026-03-19T10:45:01.353" v="22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4:55.896" v="21" actId="478"/>
          <ac:spMkLst>
            <pc:docMk/>
            <pc:sldMk cId="0" sldId="262"/>
            <ac:spMk id="19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5:11.512" v="24" actId="478"/>
        <pc:sldMkLst>
          <pc:docMk/>
          <pc:sldMk cId="0" sldId="263"/>
        </pc:sldMkLst>
        <pc:spChg chg="del">
          <ac:chgData name="Sonali Shekhawat" userId="0309683e1721122f" providerId="LiveId" clId="{81579934-A0E3-4E5B-A9C3-621F00061F9F}" dt="2026-03-19T10:45:11.512" v="24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5:08.108" v="23" actId="478"/>
          <ac:spMkLst>
            <pc:docMk/>
            <pc:sldMk cId="0" sldId="263"/>
            <ac:spMk id="23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5:20.946" v="26" actId="478"/>
        <pc:sldMkLst>
          <pc:docMk/>
          <pc:sldMk cId="0" sldId="264"/>
        </pc:sldMkLst>
        <pc:spChg chg="del">
          <ac:chgData name="Sonali Shekhawat" userId="0309683e1721122f" providerId="LiveId" clId="{81579934-A0E3-4E5B-A9C3-621F00061F9F}" dt="2026-03-19T10:45:20.946" v="26" actId="478"/>
          <ac:spMkLst>
            <pc:docMk/>
            <pc:sldMk cId="0" sldId="264"/>
            <ac:spMk id="2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5:16.114" v="25" actId="478"/>
          <ac:spMkLst>
            <pc:docMk/>
            <pc:sldMk cId="0" sldId="264"/>
            <ac:spMk id="30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5:36.826" v="28" actId="478"/>
        <pc:sldMkLst>
          <pc:docMk/>
          <pc:sldMk cId="0" sldId="265"/>
        </pc:sldMkLst>
        <pc:spChg chg="del">
          <ac:chgData name="Sonali Shekhawat" userId="0309683e1721122f" providerId="LiveId" clId="{81579934-A0E3-4E5B-A9C3-621F00061F9F}" dt="2026-03-19T10:45:36.826" v="28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5:36.826" v="28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5:36.826" v="28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5:36.826" v="28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5:36.826" v="28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5:28.138" v="27" actId="478"/>
          <ac:spMkLst>
            <pc:docMk/>
            <pc:sldMk cId="0" sldId="265"/>
            <ac:spMk id="23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0:46:20.079" v="33" actId="478"/>
        <pc:sldMkLst>
          <pc:docMk/>
          <pc:sldMk cId="0" sldId="266"/>
        </pc:sldMkLst>
        <pc:spChg chg="del">
          <ac:chgData name="Sonali Shekhawat" userId="0309683e1721122f" providerId="LiveId" clId="{81579934-A0E3-4E5B-A9C3-621F00061F9F}" dt="2026-03-19T10:46:20.079" v="33" actId="478"/>
          <ac:spMkLst>
            <pc:docMk/>
            <pc:sldMk cId="0" sldId="266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18.347" v="32" actId="478"/>
          <ac:spMkLst>
            <pc:docMk/>
            <pc:sldMk cId="0" sldId="266"/>
            <ac:spMk id="2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18.347" v="32" actId="478"/>
          <ac:spMkLst>
            <pc:docMk/>
            <pc:sldMk cId="0" sldId="266"/>
            <ac:spMk id="2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18.347" v="32" actId="478"/>
          <ac:spMkLst>
            <pc:docMk/>
            <pc:sldMk cId="0" sldId="266"/>
            <ac:spMk id="2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18.347" v="32" actId="478"/>
          <ac:spMkLst>
            <pc:docMk/>
            <pc:sldMk cId="0" sldId="266"/>
            <ac:spMk id="2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18.347" v="32" actId="478"/>
          <ac:spMkLst>
            <pc:docMk/>
            <pc:sldMk cId="0" sldId="266"/>
            <ac:spMk id="3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18.347" v="32" actId="478"/>
          <ac:spMkLst>
            <pc:docMk/>
            <pc:sldMk cId="0" sldId="266"/>
            <ac:spMk id="3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04.210" v="29" actId="478"/>
          <ac:spMkLst>
            <pc:docMk/>
            <pc:sldMk cId="0" sldId="266"/>
            <ac:spMk id="3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04.210" v="29" actId="478"/>
          <ac:spMkLst>
            <pc:docMk/>
            <pc:sldMk cId="0" sldId="266"/>
            <ac:spMk id="33" creationId="{00000000-0000-0000-0000-000000000000}"/>
          </ac:spMkLst>
        </pc:spChg>
        <pc:spChg chg="add mod">
          <ac:chgData name="Sonali Shekhawat" userId="0309683e1721122f" providerId="LiveId" clId="{81579934-A0E3-4E5B-A9C3-621F00061F9F}" dt="2026-03-19T10:46:12.452" v="31" actId="571"/>
          <ac:spMkLst>
            <pc:docMk/>
            <pc:sldMk cId="0" sldId="266"/>
            <ac:spMk id="34" creationId="{28D32650-29BC-2CBE-84A0-89A6CA1AEE67}"/>
          </ac:spMkLst>
        </pc:spChg>
        <pc:spChg chg="add mod">
          <ac:chgData name="Sonali Shekhawat" userId="0309683e1721122f" providerId="LiveId" clId="{81579934-A0E3-4E5B-A9C3-621F00061F9F}" dt="2026-03-19T10:46:12.452" v="31" actId="571"/>
          <ac:spMkLst>
            <pc:docMk/>
            <pc:sldMk cId="0" sldId="266"/>
            <ac:spMk id="35" creationId="{5A394CE0-FD1D-8D9F-9547-1FD8F92A61CE}"/>
          </ac:spMkLst>
        </pc:spChg>
        <pc:spChg chg="add mod">
          <ac:chgData name="Sonali Shekhawat" userId="0309683e1721122f" providerId="LiveId" clId="{81579934-A0E3-4E5B-A9C3-621F00061F9F}" dt="2026-03-19T10:46:12.452" v="31" actId="571"/>
          <ac:spMkLst>
            <pc:docMk/>
            <pc:sldMk cId="0" sldId="266"/>
            <ac:spMk id="36" creationId="{A52D2E45-FB12-682E-FB4F-F9DE45160514}"/>
          </ac:spMkLst>
        </pc:spChg>
      </pc:sldChg>
      <pc:sldChg chg="delSp modSp mod">
        <pc:chgData name="Sonali Shekhawat" userId="0309683e1721122f" providerId="LiveId" clId="{81579934-A0E3-4E5B-A9C3-621F00061F9F}" dt="2026-03-19T10:46:35.157" v="36" actId="478"/>
        <pc:sldMkLst>
          <pc:docMk/>
          <pc:sldMk cId="0" sldId="267"/>
        </pc:sldMkLst>
        <pc:spChg chg="del mod">
          <ac:chgData name="Sonali Shekhawat" userId="0309683e1721122f" providerId="LiveId" clId="{81579934-A0E3-4E5B-A9C3-621F00061F9F}" dt="2026-03-19T10:46:35.157" v="36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6:31.027" v="34" actId="478"/>
          <ac:spMkLst>
            <pc:docMk/>
            <pc:sldMk cId="0" sldId="267"/>
            <ac:spMk id="7" creationId="{00000000-0000-0000-0000-000000000000}"/>
          </ac:spMkLst>
        </pc:spChg>
      </pc:sldChg>
      <pc:sldChg chg="addSp delSp modSp mod">
        <pc:chgData name="Sonali Shekhawat" userId="0309683e1721122f" providerId="LiveId" clId="{81579934-A0E3-4E5B-A9C3-621F00061F9F}" dt="2026-03-19T10:47:31.227" v="47" actId="478"/>
        <pc:sldMkLst>
          <pc:docMk/>
          <pc:sldMk cId="0" sldId="268"/>
        </pc:sldMkLst>
        <pc:spChg chg="mod">
          <ac:chgData name="Sonali Shekhawat" userId="0309683e1721122f" providerId="LiveId" clId="{81579934-A0E3-4E5B-A9C3-621F00061F9F}" dt="2026-03-19T10:47:00.707" v="37" actId="2057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47:05.061" v="38" actId="20577"/>
          <ac:spMkLst>
            <pc:docMk/>
            <pc:sldMk cId="0" sldId="268"/>
            <ac:spMk id="1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2.468" v="42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2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2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3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1.179" v="41" actId="478"/>
          <ac:spMkLst>
            <pc:docMk/>
            <pc:sldMk cId="0" sldId="268"/>
            <ac:spMk id="33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10:47:31.227" v="47" actId="478"/>
          <ac:spMkLst>
            <pc:docMk/>
            <pc:sldMk cId="0" sldId="268"/>
            <ac:spMk id="3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24.709" v="43" actId="478"/>
          <ac:spMkLst>
            <pc:docMk/>
            <pc:sldMk cId="0" sldId="268"/>
            <ac:spMk id="35" creationId="{00000000-0000-0000-0000-000000000000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36" creationId="{8B666B02-8E66-4859-87D5-4C54E9773F3C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37" creationId="{3E6B27D8-F0AA-D47C-CAAA-DEB88A105FEF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38" creationId="{44892E25-FBCD-3763-B7CF-4B07C46287BC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39" creationId="{EA024618-C61A-89BF-A65C-02E6B473B113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40" creationId="{214860D7-C53E-574A-6951-BC3A2743B2FD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41" creationId="{94E66A38-BFDE-1EF3-1458-AECE0FD814A8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42" creationId="{8EE87FAE-6C23-1397-521A-991F45624990}"/>
          </ac:spMkLst>
        </pc:spChg>
        <pc:spChg chg="add mod">
          <ac:chgData name="Sonali Shekhawat" userId="0309683e1721122f" providerId="LiveId" clId="{81579934-A0E3-4E5B-A9C3-621F00061F9F}" dt="2026-03-19T10:47:15.878" v="40" actId="571"/>
          <ac:spMkLst>
            <pc:docMk/>
            <pc:sldMk cId="0" sldId="268"/>
            <ac:spMk id="43" creationId="{5EC6ABB8-3478-A460-CCEA-5DFC99899203}"/>
          </ac:spMkLst>
        </pc:spChg>
      </pc:sldChg>
      <pc:sldChg chg="delSp mod">
        <pc:chgData name="Sonali Shekhawat" userId="0309683e1721122f" providerId="LiveId" clId="{81579934-A0E3-4E5B-A9C3-621F00061F9F}" dt="2026-03-19T10:47:41.131" v="49" actId="478"/>
        <pc:sldMkLst>
          <pc:docMk/>
          <pc:sldMk cId="0" sldId="269"/>
        </pc:sldMkLst>
        <pc:spChg chg="del">
          <ac:chgData name="Sonali Shekhawat" userId="0309683e1721122f" providerId="LiveId" clId="{81579934-A0E3-4E5B-A9C3-621F00061F9F}" dt="2026-03-19T10:47:41.131" v="49" actId="478"/>
          <ac:spMkLst>
            <pc:docMk/>
            <pc:sldMk cId="0" sldId="269"/>
            <ac:spMk id="3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38.185" v="48" actId="478"/>
          <ac:spMkLst>
            <pc:docMk/>
            <pc:sldMk cId="0" sldId="269"/>
            <ac:spMk id="37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7:49.238" v="51" actId="478"/>
        <pc:sldMkLst>
          <pc:docMk/>
          <pc:sldMk cId="0" sldId="270"/>
        </pc:sldMkLst>
        <pc:spChg chg="del">
          <ac:chgData name="Sonali Shekhawat" userId="0309683e1721122f" providerId="LiveId" clId="{81579934-A0E3-4E5B-A9C3-621F00061F9F}" dt="2026-03-19T10:47:49.238" v="51" actId="478"/>
          <ac:spMkLst>
            <pc:docMk/>
            <pc:sldMk cId="0" sldId="270"/>
            <ac:spMk id="4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7:46.669" v="50" actId="478"/>
          <ac:spMkLst>
            <pc:docMk/>
            <pc:sldMk cId="0" sldId="270"/>
            <ac:spMk id="41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8:07.094" v="52" actId="478"/>
        <pc:sldMkLst>
          <pc:docMk/>
          <pc:sldMk cId="0" sldId="271"/>
        </pc:sldMkLst>
        <pc:spChg chg="del">
          <ac:chgData name="Sonali Shekhawat" userId="0309683e1721122f" providerId="LiveId" clId="{81579934-A0E3-4E5B-A9C3-621F00061F9F}" dt="2026-03-19T10:48:07.094" v="52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8:07.094" v="52" actId="478"/>
          <ac:spMkLst>
            <pc:docMk/>
            <pc:sldMk cId="0" sldId="271"/>
            <ac:spMk id="21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8:11.880" v="53" actId="478"/>
        <pc:sldMkLst>
          <pc:docMk/>
          <pc:sldMk cId="0" sldId="272"/>
        </pc:sldMkLst>
        <pc:spChg chg="del">
          <ac:chgData name="Sonali Shekhawat" userId="0309683e1721122f" providerId="LiveId" clId="{81579934-A0E3-4E5B-A9C3-621F00061F9F}" dt="2026-03-19T10:48:11.880" v="53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8:11.880" v="53" actId="478"/>
          <ac:spMkLst>
            <pc:docMk/>
            <pc:sldMk cId="0" sldId="272"/>
            <ac:spMk id="21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8:20.390" v="54" actId="478"/>
        <pc:sldMkLst>
          <pc:docMk/>
          <pc:sldMk cId="0" sldId="273"/>
        </pc:sldMkLst>
        <pc:spChg chg="del">
          <ac:chgData name="Sonali Shekhawat" userId="0309683e1721122f" providerId="LiveId" clId="{81579934-A0E3-4E5B-A9C3-621F00061F9F}" dt="2026-03-19T10:48:20.390" v="54" actId="478"/>
          <ac:spMkLst>
            <pc:docMk/>
            <pc:sldMk cId="0" sldId="273"/>
            <ac:spMk id="2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8:20.390" v="54" actId="478"/>
          <ac:spMkLst>
            <pc:docMk/>
            <pc:sldMk cId="0" sldId="273"/>
            <ac:spMk id="2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8:20.390" v="54" actId="478"/>
          <ac:spMkLst>
            <pc:docMk/>
            <pc:sldMk cId="0" sldId="273"/>
            <ac:spMk id="24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8:26.039" v="55" actId="478"/>
        <pc:sldMkLst>
          <pc:docMk/>
          <pc:sldMk cId="0" sldId="274"/>
        </pc:sldMkLst>
        <pc:spChg chg="del">
          <ac:chgData name="Sonali Shekhawat" userId="0309683e1721122f" providerId="LiveId" clId="{81579934-A0E3-4E5B-A9C3-621F00061F9F}" dt="2026-03-19T10:48:26.039" v="55" actId="478"/>
          <ac:spMkLst>
            <pc:docMk/>
            <pc:sldMk cId="0" sldId="274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8:26.039" v="55" actId="478"/>
          <ac:spMkLst>
            <pc:docMk/>
            <pc:sldMk cId="0" sldId="274"/>
            <ac:spMk id="21" creationId="{00000000-0000-0000-0000-000000000000}"/>
          </ac:spMkLst>
        </pc:spChg>
      </pc:sldChg>
      <pc:sldChg chg="del">
        <pc:chgData name="Sonali Shekhawat" userId="0309683e1721122f" providerId="LiveId" clId="{81579934-A0E3-4E5B-A9C3-621F00061F9F}" dt="2026-03-19T10:48:49.822" v="56" actId="2696"/>
        <pc:sldMkLst>
          <pc:docMk/>
          <pc:sldMk cId="0" sldId="275"/>
        </pc:sldMkLst>
      </pc:sldChg>
      <pc:sldChg chg="delSp mod">
        <pc:chgData name="Sonali Shekhawat" userId="0309683e1721122f" providerId="LiveId" clId="{81579934-A0E3-4E5B-A9C3-621F00061F9F}" dt="2026-03-19T10:48:57.061" v="57" actId="478"/>
        <pc:sldMkLst>
          <pc:docMk/>
          <pc:sldMk cId="0" sldId="276"/>
        </pc:sldMkLst>
        <pc:spChg chg="del">
          <ac:chgData name="Sonali Shekhawat" userId="0309683e1721122f" providerId="LiveId" clId="{81579934-A0E3-4E5B-A9C3-621F00061F9F}" dt="2026-03-19T10:48:57.061" v="57" actId="478"/>
          <ac:spMkLst>
            <pc:docMk/>
            <pc:sldMk cId="0" sldId="276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8:57.061" v="57" actId="478"/>
          <ac:spMkLst>
            <pc:docMk/>
            <pc:sldMk cId="0" sldId="276"/>
            <ac:spMk id="21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9:04.190" v="58" actId="478"/>
        <pc:sldMkLst>
          <pc:docMk/>
          <pc:sldMk cId="0" sldId="277"/>
        </pc:sldMkLst>
        <pc:spChg chg="del">
          <ac:chgData name="Sonali Shekhawat" userId="0309683e1721122f" providerId="LiveId" clId="{81579934-A0E3-4E5B-A9C3-621F00061F9F}" dt="2026-03-19T10:49:04.190" v="58" actId="478"/>
          <ac:spMkLst>
            <pc:docMk/>
            <pc:sldMk cId="0" sldId="277"/>
            <ac:spMk id="2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9:04.190" v="58" actId="478"/>
          <ac:spMkLst>
            <pc:docMk/>
            <pc:sldMk cId="0" sldId="277"/>
            <ac:spMk id="21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9:15.982" v="60" actId="478"/>
        <pc:sldMkLst>
          <pc:docMk/>
          <pc:sldMk cId="0" sldId="278"/>
        </pc:sldMkLst>
        <pc:spChg chg="del">
          <ac:chgData name="Sonali Shekhawat" userId="0309683e1721122f" providerId="LiveId" clId="{81579934-A0E3-4E5B-A9C3-621F00061F9F}" dt="2026-03-19T10:49:15.982" v="60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9:13.432" v="59" actId="478"/>
          <ac:spMkLst>
            <pc:docMk/>
            <pc:sldMk cId="0" sldId="278"/>
            <ac:spMk id="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9:23.162" v="62" actId="478"/>
        <pc:sldMkLst>
          <pc:docMk/>
          <pc:sldMk cId="0" sldId="279"/>
        </pc:sldMkLst>
        <pc:spChg chg="del">
          <ac:chgData name="Sonali Shekhawat" userId="0309683e1721122f" providerId="LiveId" clId="{81579934-A0E3-4E5B-A9C3-621F00061F9F}" dt="2026-03-19T10:49:23.162" v="62" actId="478"/>
          <ac:spMkLst>
            <pc:docMk/>
            <pc:sldMk cId="0" sldId="279"/>
            <ac:spMk id="2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9:20.292" v="61" actId="478"/>
          <ac:spMkLst>
            <pc:docMk/>
            <pc:sldMk cId="0" sldId="279"/>
            <ac:spMk id="30" creationId="{00000000-0000-0000-0000-000000000000}"/>
          </ac:spMkLst>
        </pc:spChg>
      </pc:sldChg>
      <pc:sldChg chg="del">
        <pc:chgData name="Sonali Shekhawat" userId="0309683e1721122f" providerId="LiveId" clId="{81579934-A0E3-4E5B-A9C3-621F00061F9F}" dt="2026-03-19T10:49:41.105" v="63" actId="2696"/>
        <pc:sldMkLst>
          <pc:docMk/>
          <pc:sldMk cId="0" sldId="280"/>
        </pc:sldMkLst>
      </pc:sldChg>
      <pc:sldChg chg="delSp mod">
        <pc:chgData name="Sonali Shekhawat" userId="0309683e1721122f" providerId="LiveId" clId="{81579934-A0E3-4E5B-A9C3-621F00061F9F}" dt="2026-03-19T10:49:50.153" v="64" actId="478"/>
        <pc:sldMkLst>
          <pc:docMk/>
          <pc:sldMk cId="0" sldId="281"/>
        </pc:sldMkLst>
        <pc:spChg chg="del">
          <ac:chgData name="Sonali Shekhawat" userId="0309683e1721122f" providerId="LiveId" clId="{81579934-A0E3-4E5B-A9C3-621F00061F9F}" dt="2026-03-19T10:49:50.153" v="64" actId="478"/>
          <ac:spMkLst>
            <pc:docMk/>
            <pc:sldMk cId="0" sldId="281"/>
            <ac:spMk id="3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9:50.153" v="64" actId="478"/>
          <ac:spMkLst>
            <pc:docMk/>
            <pc:sldMk cId="0" sldId="281"/>
            <ac:spMk id="35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49:57.749" v="65" actId="478"/>
        <pc:sldMkLst>
          <pc:docMk/>
          <pc:sldMk cId="0" sldId="282"/>
        </pc:sldMkLst>
        <pc:spChg chg="del">
          <ac:chgData name="Sonali Shekhawat" userId="0309683e1721122f" providerId="LiveId" clId="{81579934-A0E3-4E5B-A9C3-621F00061F9F}" dt="2026-03-19T10:49:57.749" v="65" actId="478"/>
          <ac:spMkLst>
            <pc:docMk/>
            <pc:sldMk cId="0" sldId="282"/>
            <ac:spMk id="5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49:57.749" v="65" actId="478"/>
          <ac:spMkLst>
            <pc:docMk/>
            <pc:sldMk cId="0" sldId="282"/>
            <ac:spMk id="55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50:06.378" v="66" actId="478"/>
        <pc:sldMkLst>
          <pc:docMk/>
          <pc:sldMk cId="0" sldId="283"/>
        </pc:sldMkLst>
        <pc:spChg chg="del">
          <ac:chgData name="Sonali Shekhawat" userId="0309683e1721122f" providerId="LiveId" clId="{81579934-A0E3-4E5B-A9C3-621F00061F9F}" dt="2026-03-19T10:50:06.378" v="66" actId="478"/>
          <ac:spMkLst>
            <pc:docMk/>
            <pc:sldMk cId="0" sldId="283"/>
            <ac:spMk id="2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0:06.378" v="66" actId="478"/>
          <ac:spMkLst>
            <pc:docMk/>
            <pc:sldMk cId="0" sldId="283"/>
            <ac:spMk id="2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50:06.378" v="66" actId="478"/>
          <ac:spMkLst>
            <pc:docMk/>
            <pc:sldMk cId="0" sldId="283"/>
            <ac:spMk id="3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 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6BD-4555-8AA8-704827B8596F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BD-4555-8AA8-704827B8596F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BD-4555-8AA8-704827B859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DDoS</c:v>
                </c:pt>
                <c:pt idx="1">
                  <c:v>Malware</c:v>
                </c:pt>
                <c:pt idx="2">
                  <c:v>Intrusion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13428</c:v>
                </c:pt>
                <c:pt idx="1">
                  <c:v>13307</c:v>
                </c:pt>
                <c:pt idx="2">
                  <c:v>13265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BD-4555-8AA8-704827B859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Attacks</c:v>
                </c:pt>
              </c:strCache>
            </c:strRef>
          </c:tx>
          <c:spPr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3A8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Dec</c:v>
                </c:pt>
                <c:pt idx="1">
                  <c:v>Nov</c:v>
                </c:pt>
                <c:pt idx="2">
                  <c:v>Oct</c:v>
                </c:pt>
                <c:pt idx="3">
                  <c:v>Feb</c:v>
                </c:pt>
                <c:pt idx="4">
                  <c:v>Jan</c:v>
                </c:pt>
                <c:pt idx="5">
                  <c:v>Apr</c:v>
                </c:pt>
                <c:pt idx="6">
                  <c:v>Sep</c:v>
                </c:pt>
                <c:pt idx="7">
                  <c:v>May</c:v>
                </c:pt>
                <c:pt idx="8">
                  <c:v>Jun</c:v>
                </c:pt>
                <c:pt idx="9">
                  <c:v>Aug</c:v>
                </c:pt>
                <c:pt idx="10">
                  <c:v>Jul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2675</c:v>
                </c:pt>
                <c:pt idx="1">
                  <c:v>2703</c:v>
                </c:pt>
                <c:pt idx="2">
                  <c:v>2989</c:v>
                </c:pt>
                <c:pt idx="3">
                  <c:v>3232</c:v>
                </c:pt>
                <c:pt idx="4">
                  <c:v>3378</c:v>
                </c:pt>
                <c:pt idx="5">
                  <c:v>3421</c:v>
                </c:pt>
                <c:pt idx="6">
                  <c:v>3482</c:v>
                </c:pt>
                <c:pt idx="7">
                  <c:v>3595</c:v>
                </c:pt>
                <c:pt idx="8">
                  <c:v>3609</c:v>
                </c:pt>
                <c:pt idx="9">
                  <c:v>3615</c:v>
                </c:pt>
                <c:pt idx="10">
                  <c:v>3623</c:v>
                </c:pt>
                <c:pt idx="11">
                  <c:v>3678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A87-47FF-B34C-67455E82BA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Protocol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DB-4774-A258-B327E357EA44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DB-4774-A258-B327E357EA44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DB-4774-A258-B327E357EA4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DB-4774-A258-B327E357EA4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DB-4774-A258-B327E357EA4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DB-4774-A258-B327E357EA4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TCP (33.18%)</c:v>
                </c:pt>
                <c:pt idx="1">
                  <c:v>UDP (33.25%)</c:v>
                </c:pt>
                <c:pt idx="2">
                  <c:v>ICMP (33.57%)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13272</c:v>
                </c:pt>
                <c:pt idx="1">
                  <c:v>13299</c:v>
                </c:pt>
                <c:pt idx="2">
                  <c:v>13429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DB-4774-A258-B327E357EA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Segment A</c:v>
                </c:pt>
                <c:pt idx="1">
                  <c:v>Segment B</c:v>
                </c:pt>
                <c:pt idx="2">
                  <c:v>Segment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4450</c:v>
                </c:pt>
                <c:pt idx="1">
                  <c:v>4420</c:v>
                </c:pt>
                <c:pt idx="2">
                  <c:v>4512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7-4F1F-8F24-4D96B78EA5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Segment A</c:v>
                </c:pt>
                <c:pt idx="1">
                  <c:v>Segment B</c:v>
                </c:pt>
                <c:pt idx="2">
                  <c:v>Segment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4310</c:v>
                </c:pt>
                <c:pt idx="1">
                  <c:v>4460</c:v>
                </c:pt>
                <c:pt idx="2">
                  <c:v>4465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07-4F1F-8F24-4D96B78EA5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Segment A</c:v>
                </c:pt>
                <c:pt idx="1">
                  <c:v>Segment B</c:v>
                </c:pt>
                <c:pt idx="2">
                  <c:v>Segment 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4313</c:v>
                </c:pt>
                <c:pt idx="1">
                  <c:v>4439</c:v>
                </c:pt>
                <c:pt idx="2">
                  <c:v>4431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07-4F1F-8F24-4D96B78EA5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Attacks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Dec</c:v>
                </c:pt>
                <c:pt idx="1">
                  <c:v>Nov</c:v>
                </c:pt>
                <c:pt idx="2">
                  <c:v>Oct</c:v>
                </c:pt>
                <c:pt idx="3">
                  <c:v>Feb</c:v>
                </c:pt>
                <c:pt idx="4">
                  <c:v>Jan</c:v>
                </c:pt>
                <c:pt idx="5">
                  <c:v>Apr</c:v>
                </c:pt>
                <c:pt idx="6">
                  <c:v>Sep</c:v>
                </c:pt>
                <c:pt idx="7">
                  <c:v>May</c:v>
                </c:pt>
                <c:pt idx="8">
                  <c:v>Jun</c:v>
                </c:pt>
                <c:pt idx="9">
                  <c:v>Aug</c:v>
                </c:pt>
                <c:pt idx="10">
                  <c:v>Jul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2675</c:v>
                </c:pt>
                <c:pt idx="1">
                  <c:v>2703</c:v>
                </c:pt>
                <c:pt idx="2">
                  <c:v>2989</c:v>
                </c:pt>
                <c:pt idx="3">
                  <c:v>3232</c:v>
                </c:pt>
                <c:pt idx="4">
                  <c:v>3378</c:v>
                </c:pt>
                <c:pt idx="5">
                  <c:v>3421</c:v>
                </c:pt>
                <c:pt idx="6">
                  <c:v>3482</c:v>
                </c:pt>
                <c:pt idx="7">
                  <c:v>3595</c:v>
                </c:pt>
                <c:pt idx="8">
                  <c:v>3609</c:v>
                </c:pt>
                <c:pt idx="9">
                  <c:v>3615</c:v>
                </c:pt>
                <c:pt idx="10">
                  <c:v>3623</c:v>
                </c:pt>
                <c:pt idx="11">
                  <c:v>3678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A9E-4627-84B7-5017B70E73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Blocked (35%)</c:v>
                </c:pt>
              </c:strCache>
            </c:strRef>
          </c:tx>
          <c:spPr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Dec</c:v>
                </c:pt>
                <c:pt idx="1">
                  <c:v>Nov</c:v>
                </c:pt>
                <c:pt idx="2">
                  <c:v>Oct</c:v>
                </c:pt>
                <c:pt idx="3">
                  <c:v>Feb</c:v>
                </c:pt>
                <c:pt idx="4">
                  <c:v>Jan</c:v>
                </c:pt>
                <c:pt idx="5">
                  <c:v>Apr</c:v>
                </c:pt>
                <c:pt idx="6">
                  <c:v>Sep</c:v>
                </c:pt>
                <c:pt idx="7">
                  <c:v>May</c:v>
                </c:pt>
                <c:pt idx="8">
                  <c:v>Jun</c:v>
                </c:pt>
                <c:pt idx="9">
                  <c:v>Aug</c:v>
                </c:pt>
                <c:pt idx="10">
                  <c:v>Jul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936</c:v>
                </c:pt>
                <c:pt idx="1">
                  <c:v>946</c:v>
                </c:pt>
                <c:pt idx="2">
                  <c:v>1046</c:v>
                </c:pt>
                <c:pt idx="3">
                  <c:v>1131</c:v>
                </c:pt>
                <c:pt idx="4">
                  <c:v>1182</c:v>
                </c:pt>
                <c:pt idx="5">
                  <c:v>1197</c:v>
                </c:pt>
                <c:pt idx="6">
                  <c:v>1219</c:v>
                </c:pt>
                <c:pt idx="7">
                  <c:v>1258</c:v>
                </c:pt>
                <c:pt idx="8">
                  <c:v>1263</c:v>
                </c:pt>
                <c:pt idx="9">
                  <c:v>1265</c:v>
                </c:pt>
                <c:pt idx="10">
                  <c:v>1268</c:v>
                </c:pt>
                <c:pt idx="11">
                  <c:v>1287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A9E-4627-84B7-5017B70E7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Firewall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Blocked</c:v>
                </c:pt>
                <c:pt idx="1">
                  <c:v>Logged</c:v>
                </c:pt>
                <c:pt idx="2">
                  <c:v>Ignored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6800</c:v>
                </c:pt>
                <c:pt idx="1">
                  <c:v>6600</c:v>
                </c:pt>
                <c:pt idx="2">
                  <c:v>6716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A-4A28-9751-2F6049566B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Server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Blocked</c:v>
                </c:pt>
                <c:pt idx="1">
                  <c:v>Logged</c:v>
                </c:pt>
                <c:pt idx="2">
                  <c:v>Ignored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6729</c:v>
                </c:pt>
                <c:pt idx="1">
                  <c:v>6595</c:v>
                </c:pt>
                <c:pt idx="2">
                  <c:v>6560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FA-4A28-9751-2F6049566B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36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13291" y="274320"/>
            <a:ext cx="137160" cy="137160"/>
          </a:xfrm>
          <a:prstGeom prst="ellipse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0099" y="1051560"/>
            <a:ext cx="137160" cy="137160"/>
          </a:xfrm>
          <a:prstGeom prst="ellipse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34220" y="1828800"/>
            <a:ext cx="137160" cy="137160"/>
          </a:xfrm>
          <a:prstGeom prst="ellipse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36613" y="2606040"/>
            <a:ext cx="137160" cy="137160"/>
          </a:xfrm>
          <a:prstGeom prst="ellipse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502" y="3383280"/>
            <a:ext cx="137160" cy="137160"/>
          </a:xfrm>
          <a:prstGeom prst="ellipse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0581" y="4160520"/>
            <a:ext cx="137160" cy="137160"/>
          </a:xfrm>
          <a:prstGeom prst="ellipse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229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60A5FA"/>
                </a:solidFill>
              </a:rPr>
              <a:t>CYBERSECURITY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28016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Monitoring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Analysis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286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0FE"/>
                </a:solidFill>
              </a:rPr>
              <a:t>A Data-Driven Deep Dive into Enterprise Threat Intelligence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 / 28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 of Contents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6858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Introduction &amp; 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2801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Domain Overview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7452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745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8745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68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4688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6324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632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06324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6576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Data Summary &amp; Understanding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25196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25196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519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2519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68580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68580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685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6858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Data Transformation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128016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28016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2801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12801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Tools &amp; Technologies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187452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187452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18745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18745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Business Questions &amp; EDA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46888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246888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468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9240" y="24688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Charts &amp; Visualizations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306324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306324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0632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306324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Dashboard Walkthrough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365760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46320" y="365760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36576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49240" y="36576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Key Insights &amp; Recommendations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46320" y="4251960"/>
            <a:ext cx="4114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846320" y="4251960"/>
            <a:ext cx="41148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42519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49240" y="42519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Conclusion &amp; Future Scope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</a:rPr>
              <a:t>Background &amp; Context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Global Threat Landscape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Organizations worldwide face an escalating volume of cyber attacks. Proactive monitoring is no longer optional — it is mission-critical.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5740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574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Dataset Context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3774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This analysis is based on 40,000 real-world cybersecurity events captured across multiple network segments, protocols, and attack vectors.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718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918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 single successful breach can cost millions in damages, reputational harm, and regulatory penalties. Data-driven security transforms reactive defense into proactive intelligence.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862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931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Scope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2062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The dataset spans 12 months of network traffic logs sourced from Firewall and Server systems across Segments A, B, and C.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Domain Overview — Cybersecurity Intelligence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Threat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Systematic collection &amp; analysis of data about potential cyber threats, adversaries, and their tactics.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18688" y="685800"/>
            <a:ext cx="274320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10128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SIEM Systems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600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Security Information &amp; Event Management tools correlate logs from multiple sources for real-time threat detection.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63056" y="685800"/>
            <a:ext cx="274320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54496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Network Segmentation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1600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Dividing networks into isolated zones (A, B, C) limits lateral movement of attackers after breach.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79192"/>
            <a:ext cx="274320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816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65760" y="3273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Severity Triage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93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Classifying events as High / Medium / Low allows security teams to prioritize response efforts efficiently.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2679192"/>
            <a:ext cx="274320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18688" y="2816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10128" y="3273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IDS / IPS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593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Intrusion Detection &amp; Prevention Systems analyze packet-level traffic to flag anomalous or malicious patterns.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63056" y="2679192"/>
            <a:ext cx="274320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63056" y="2816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54496" y="3273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Multi-Vector Attacks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3593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Modern attackers use TCP, UDP, and ICMP simultaneously to bypass single-protocol defenses.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What Business Problem Are We Solving?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1143000"/>
            <a:ext cx="5120640" cy="100584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03120" y="1188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</a:rPr>
              <a:t>40,000 attacks recorded — only 14,000 (35%) were blocked.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</a:rPr>
              <a:t>Over 26,000 threats remained active or unmitigated.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416052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774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Low Mitigation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7249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Only 35% of attacks were blocked. The remaining 65% were ignored or merely logged — leaving critical systems exposed.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2377440"/>
            <a:ext cx="416052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37744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High Severity Volume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7249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13,000 High Severity events (32.5%) indicate persistent, targeted attack campaigns requiring urgent strategic response.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16052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1188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Broad Attack Surface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Uniform attack distribution across all 3 network segments and protocols means no single layer of defense is effective.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611880"/>
            <a:ext cx="416052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611880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Escalating Trend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Attack volume grew 37% from December to March — without intervention, this trajectory poses extreme organizational risk.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8503920" cy="1261872"/>
          </a:xfrm>
          <a:prstGeom prst="rect">
            <a:avLst/>
          </a:prstGeom>
          <a:solidFill>
            <a:srgbClr val="16204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594360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7132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Business Goal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024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Quantify the organization's threat exposure and mitigation effectiveness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2984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Identify top attack vectors and highest-risk network segments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5727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Benchmark current detection-to-block ratios against industry standards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1261872"/>
          </a:xfrm>
          <a:prstGeom prst="rect">
            <a:avLst/>
          </a:prstGeom>
          <a:solidFill>
            <a:srgbClr val="1620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57400"/>
            <a:ext cx="594360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57400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1305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End Goal (Expected Outcome)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4414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A fully interactive Power BI dashboard for real-time threat monitoring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7157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Actionable recommendations to improve the 35% block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990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Clear data-backed risk prioritization for the security operations team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8503920" cy="1261872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74720"/>
            <a:ext cx="59436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3547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Analytical Goal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8587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Reveal hidden attack patterns through multi-dimensional EDA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Validate whether attack distribution is truly uniform or driven by bias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4074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Build a reusable analytical framework for monthly security reviews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Dataset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96596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594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40,000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594360"/>
            <a:ext cx="196596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594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987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594360"/>
            <a:ext cx="19659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594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987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Months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594360"/>
            <a:ext cx="19659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594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 Sheet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03136" y="987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Source File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1508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Columns &amp; Descriptions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8595360" cy="3108963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Timestamp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Date &amp; time of the attack event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DateTime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Source / Dest IP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IP addresses involved in the traffic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Protocol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Network protocol: TCP, UDP, ICMP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Packet Length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Size of the data packet in bytes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Attack 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DDoS, Malware, or Intrusion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Severity Level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High, Medium, or Low severity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Action Taken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Blocked, Ignored, or Logged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Network Segment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Segment A, B, or 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Log Source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Firewall or Server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Anomaly Scores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Numerical anomaly detection score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Summary — Statistical Overview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920240" cy="1051560"/>
          </a:xfrm>
          <a:prstGeom prst="rect">
            <a:avLst/>
          </a:prstGeom>
          <a:solidFill>
            <a:srgbClr val="1A3A6B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589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40,000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252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</a:rPr>
              <a:t>Total Attacks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594360"/>
            <a:ext cx="1920240" cy="1051560"/>
          </a:xfrm>
          <a:prstGeom prst="rect">
            <a:avLst/>
          </a:prstGeom>
          <a:solidFill>
            <a:srgbClr val="1A3A6B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594360"/>
            <a:ext cx="1920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7589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14,000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77440" y="1252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</a:rPr>
              <a:t>Blocked Attacks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594360"/>
            <a:ext cx="1920240" cy="1051560"/>
          </a:xfrm>
          <a:prstGeom prst="rect">
            <a:avLst/>
          </a:prstGeom>
          <a:solidFill>
            <a:srgbClr val="1A3A6B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59436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7589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13,000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80560" y="1252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</a:rPr>
              <a:t>High Severity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594360"/>
            <a:ext cx="1920240" cy="1051560"/>
          </a:xfrm>
          <a:prstGeom prst="rect">
            <a:avLst/>
          </a:prstGeom>
          <a:solidFill>
            <a:srgbClr val="1A3A6B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59436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7589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40,000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1252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</a:rPr>
              <a:t>Unique Source IPs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1783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Attack Distribution Summary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8595360" cy="292608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Blocked Attacks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14,000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35.0%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Ignored/Logged Attacks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26,000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65.0%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DDoS Events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13,428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33.57%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Malware Events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13,307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33.27%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Intrusion Events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13,265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33.16%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TCP Protocol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13,272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33.18%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UDP Protocol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13,299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ICMP Protocol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13,429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33.57%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High 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13,382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33.46%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Medium 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13,435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33.59%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Low 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13,183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</a:rPr>
                        <a:t>32.96%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Understanding — Column Relationships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A1628"/>
                </a:solidFill>
              </a:rPr>
              <a:t>How Key Variables Relate to Each Other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115568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60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Attack Type  →  Severity Level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533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DDoS attacks skew toward High Severity more than Malware or Intrusion attempts.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115568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60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Protocol  →  Attack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3533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All three protocols (TCP/UDP/ICMP) serve all three attack types at near-equal frequency — confirming multi-vector strategy.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4160520" cy="1115568"/>
          </a:xfrm>
          <a:prstGeom prst="rect">
            <a:avLst/>
          </a:prstGeom>
          <a:solidFill>
            <a:srgbClr val="EFF6F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04288"/>
            <a:ext cx="64008" cy="1115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59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Network Segment  →  Attack 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651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Segments A, B, and C receive attacks uniformly (≈33% each), indicating no single segment is the primary target.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304288"/>
            <a:ext cx="4160520" cy="1115568"/>
          </a:xfrm>
          <a:prstGeom prst="rect">
            <a:avLst/>
          </a:prstGeom>
          <a:solidFill>
            <a:srgbClr val="EFF6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04288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359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Log Source  →  Alerts/Warnings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651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Firewall and Server logs each contribute exactly 20K alerts, suggesting equal monitoring coverage.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02736"/>
            <a:ext cx="4160520" cy="1115568"/>
          </a:xfrm>
          <a:prstGeom prst="rect">
            <a:avLst/>
          </a:prstGeom>
          <a:solidFill>
            <a:srgbClr val="EFF6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02736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Timestamp  →  Attack Count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950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 clear upward trend from 2,675 (Dec) to 3,678 (March) reveals seasonality or growing adversary activity.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4160520" cy="1115568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02736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Action Taken  →  Mitigation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950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Only 'Blocked' actions count as mitigated. 'Ignored' and 'Logged' actions together represent 65% unresolved threats.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Cleaning — Overview &amp; Rationale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Why Data Cleaning is Essential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Raw cybersecurity data is inherently noisy. Network sensors capture every packet — including duplicates, partial records, null entries, and mis-classified events. Without rigorous cleaning, analytical conclusions would be unreliable and potentially misleading to security decision-makers.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16052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9202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🕳️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2257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Fields like Proxy Information and IDS/IPS Alerts contain null entries for non-applicable events — these must be handled contextually rather than dropped.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416052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9202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2011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Duplicate Records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232257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Network retransmissions and multi-sensor logging can create identical rows. Deduplication ensures event counts are accurate.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416052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33756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4290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Inconsistent Types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73989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Timestamp fields stored as plain text rather than DateTime objects prevent temporal analysis unless corrected.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Cleaning — Step-by-Step Process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160520" cy="1965960"/>
          </a:xfrm>
          <a:prstGeom prst="rect">
            <a:avLst/>
          </a:prstGeom>
          <a:solidFill>
            <a:srgbClr val="16204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02920" cy="1965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502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7315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Handle Missing Values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07899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Proxy Information: Null = 'No Proxy' — filled contextually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IDS/IPS Alerts: Null = 'No Alert' — filled with default flag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Alerts/Warnings: Null values confirmed as non-alerting events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640080"/>
            <a:ext cx="4160520" cy="1965960"/>
          </a:xfrm>
          <a:prstGeom prst="rect">
            <a:avLst/>
          </a:prstGeom>
          <a:solidFill>
            <a:srgbClr val="1620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640080"/>
            <a:ext cx="502920" cy="1965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640080"/>
            <a:ext cx="502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7315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0952" y="107899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Cross-validated Timestamp + Source IP + Destination IP + Protocol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30952" y="15544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Identified and removed 0 true duplicates (data was pre-cleaned)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30952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Confirmed 40,000 unique event records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160520" cy="1965960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88920"/>
            <a:ext cx="502920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88920"/>
            <a:ext cx="502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8803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Data Type Corrections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22783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Converted Timestamp from string to proper DateTime format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6112" y="37033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Extracted Month, Year, Hour as derived columns for time analysis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96112" y="417880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</a:rPr>
              <a:t>Validated Port numbers as integers, Packet Length as numeric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Transformation &amp; Feature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New Features Created From Raw Data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412480" cy="3931921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Derived Field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Formula / 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Business Purpose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</a:rPr>
                        <a:t>Month (Extracted)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=TEXT(Timestamp,'MMMM')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Enable month-over-month trend analysis of attack volumes across 12 months.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Datetime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</a:rPr>
                        <a:t>Is_Blocked (Binary)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=IF(Action='Blocked',1,0)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Create a binary flag to calculate overall and segment-level mitigation rates.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Calculated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Is_High_Severity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=IF(Severity='High',1,0)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Isolate and count High Severity events for risk prioritization dashboards.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Calculated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</a:rPr>
                        <a:t>Protocol_Group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Grouped: TCP / UDP / ICMP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Standardized protocol categorization for pie chart and cross-tabulation analysis.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</a:rPr>
                        <a:t>Attack Count by Segment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COUNTIFS aggregation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Computed total attacks per network segment for comparative severity analysis.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Aggregated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A6B"/>
                          </a:solidFill>
                        </a:rPr>
                        <a:t>Monthly Attack Volume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SUMIF on Month field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Aggregated monthly totals to power the line chart trend visualization.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Aggregated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Tools &amp; Technologies Used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2743200" cy="1920240"/>
          </a:xfrm>
          <a:prstGeom prst="rect">
            <a:avLst/>
          </a:prstGeom>
          <a:solidFill>
            <a:srgbClr val="162040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40080"/>
            <a:ext cx="274320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Microsoft Excel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</a:rPr>
              <a:t>v: Office 365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Primary data storage, initial exploration, pivot tables, statistical summaries, and formula-based feature engineering.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640080"/>
            <a:ext cx="2743200" cy="1920240"/>
          </a:xfrm>
          <a:prstGeom prst="rect">
            <a:avLst/>
          </a:prstGeom>
          <a:solidFill>
            <a:srgbClr val="1620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640080"/>
            <a:ext cx="2743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640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Power BI Desktop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097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B82F6"/>
                </a:solidFill>
              </a:rPr>
              <a:t>v: Latest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4408" y="135331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Interactive dashboard creation, KPI cards, DAX measures, slicers, and real-time drill-down visualizations.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17336" y="640080"/>
            <a:ext cx="2743200" cy="1920240"/>
          </a:xfrm>
          <a:prstGeom prst="rect">
            <a:avLst/>
          </a:prstGeom>
          <a:solidFill>
            <a:srgbClr val="16204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64008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208776" y="640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Power 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097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3AED"/>
                </a:solidFill>
              </a:rPr>
              <a:t>v: Built-in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08776" y="135331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Data transformation pipeline — cleaning, type corrections, column extraction, and aggregations before model load.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788920"/>
            <a:ext cx="2743200" cy="1920240"/>
          </a:xfrm>
          <a:prstGeom prst="rect">
            <a:avLst/>
          </a:prstGeom>
          <a:solidFill>
            <a:srgbClr val="16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78892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🧮  DAX (Data Analysis)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246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</a:rPr>
              <a:t>v: Built-in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50215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Calculated measures for Mitigation Rate, Severity %, Month-over-Month Growth, and segment-level aggregations.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 Questions Driving the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722376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22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621792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What is the overall attack mitigation rate and how does it compare to the industry standard of 85%+?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261872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" y="1161288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Which month(s) experienced the highest attack volume, and is there a seasonal pattern?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00784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8013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9808" y="1700784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Are attacks uniformly distributed across network segments or is one segment disproportionately targeted?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34086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2240280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Which attack type (DDoS / Malware / Intrusion) generates the most High Severity events?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8803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9808" y="2779776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Is there a relationship between the protocol used and the severity of the resulting attack?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319272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419856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9808" y="3319272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How effective are Firewall vs. Server log sources at triggering alerts for High Severity events?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858768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9593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9808" y="3858768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What percentage of total attacks are classified as High Severity and what actions were taken on them?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398264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449884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9808" y="4398264"/>
            <a:ext cx="8001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At the current 37% growth rate, what will attack volumes look like in 6 months without intervention?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Exploratory Data Analysis (EDA) — Initial Observations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1993392" cy="685800"/>
          </a:xfrm>
          <a:prstGeom prst="rect">
            <a:avLst/>
          </a:prstGeom>
          <a:solidFill>
            <a:srgbClr val="16204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5943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37%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Attack Volume Growth (Dec→Mar)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23160" y="594360"/>
            <a:ext cx="1993392" cy="685800"/>
          </a:xfrm>
          <a:prstGeom prst="rect">
            <a:avLst/>
          </a:prstGeom>
          <a:solidFill>
            <a:srgbClr val="1620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5943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35%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23160" y="914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Overall Block 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594360"/>
            <a:ext cx="1993392" cy="685800"/>
          </a:xfrm>
          <a:prstGeom prst="rect">
            <a:avLst/>
          </a:prstGeom>
          <a:solidFill>
            <a:srgbClr val="162040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5943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1:1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914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Attack-to-Unique-IP Ratio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12280" y="594360"/>
            <a:ext cx="1993392" cy="685800"/>
          </a:xfrm>
          <a:prstGeom prst="rect">
            <a:avLst/>
          </a:prstGeom>
          <a:solidFill>
            <a:srgbClr val="16204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5943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~33%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914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Even Split Across All Categories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417320"/>
            <a:ext cx="4206240" cy="1024128"/>
          </a:xfrm>
          <a:prstGeom prst="rect">
            <a:avLst/>
          </a:prstGeom>
          <a:solidFill>
            <a:srgbClr val="162040"/>
          </a:solidFill>
          <a:ln w="635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417320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4721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Uniform Attack Distribution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174650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Attack counts across all protocol types, attack types, severity levels, and network segments hover precisely near 33% — suggesting either truly random distribution OR a deliberate balanced simulation.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90872" y="1417320"/>
            <a:ext cx="4206240" cy="1024128"/>
          </a:xfrm>
          <a:prstGeom prst="rect">
            <a:avLst/>
          </a:prstGeom>
          <a:solidFill>
            <a:srgbClr val="162040"/>
          </a:solidFill>
          <a:ln w="635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1417320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4721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Unique IP = Total Attacks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174650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40,000 unique source IP addresses for 40,000 attacks suggests attackers are rotating IPs aggressively — a hallmark of botnets and DDoS infrastructure.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587752"/>
            <a:ext cx="4206240" cy="1024128"/>
          </a:xfrm>
          <a:prstGeom prst="rect">
            <a:avLst/>
          </a:prstGeom>
          <a:solidFill>
            <a:srgbClr val="162040"/>
          </a:solidFill>
          <a:ln w="635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87752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6426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Steady Growth Trend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" y="291693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Monthly attack counts grew monotonically from Dec (2,675) to March (3,678). The absence of dips is unusual and warrants investigation into whether mitigation measures were implemented.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90872" y="2587752"/>
            <a:ext cx="4206240" cy="1024128"/>
          </a:xfrm>
          <a:prstGeom prst="rect">
            <a:avLst/>
          </a:prstGeom>
          <a:solidFill>
            <a:srgbClr val="162040"/>
          </a:solidFill>
          <a:ln w="635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587752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26426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Low Mitigation Efficiency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55464" y="291693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With only 35% of attacks blocked, 26,000 events were either logged passively or ignored entirely. This represents a critical operational gap in the SOC workflow.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758184"/>
            <a:ext cx="4206240" cy="1024128"/>
          </a:xfrm>
          <a:prstGeom prst="rect">
            <a:avLst/>
          </a:prstGeom>
          <a:solidFill>
            <a:srgbClr val="162040"/>
          </a:solidFill>
          <a:ln w="635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758184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Dual Log Source Balance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" y="40873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Firewall and Server each contribute exactly 20,000 alerts — indicating perfectly balanced monitoring infrastructure, which is noteworthy and worth verifying for sensor bias.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90872" y="3758184"/>
            <a:ext cx="4206240" cy="1024128"/>
          </a:xfrm>
          <a:prstGeom prst="rect">
            <a:avLst/>
          </a:prstGeom>
          <a:solidFill>
            <a:srgbClr val="162040"/>
          </a:solidFill>
          <a:ln w="635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3758184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No Dominant Attack Vector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5464" y="40873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DDoS, Malware, and Intrusion attacks each account for precisely ~13,000 events. This multi-vector symmetry suggests a sophisticated threat actor using diversified tactics.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Chart 1 — Bar Chart: Attack Count by Type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640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This Chart Shows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Comparison of total event counts across the three primary attack categories: DDoS, Malware, and Intrusion.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2057400"/>
            <a:ext cx="29260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2057400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205740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DDoS leads with 13,428 events — the single highest attack category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2715768"/>
            <a:ext cx="29260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715768"/>
            <a:ext cx="54864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715768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All three types are remarkably balanced within a 163-event range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374136"/>
            <a:ext cx="29260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374136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374136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This multi-vector balance confirms sophisticated adversary tactics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4032504"/>
            <a:ext cx="29260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4032504"/>
            <a:ext cx="5486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4032504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No single type dominates — security defenses cannot focus on one vector alone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Chart 2 — Line Chart: Monthly Attack Volume Trend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640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This Chart Shows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Month-by-month attack volume tracking over the full 12-month monitoring period.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920240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920240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92024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Consistent upward trend — zero months showed a decline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2633472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633472"/>
            <a:ext cx="54864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633472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37% growth from December (2,675) to March peak (3,678)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346704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346704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346704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Steepest jump occurs Oct → Feb, suggesting post-holiday vulnerability windows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4059936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4059936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4059936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At current growth rate, monthly attacks could exceed 5,000 within 6 months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Chart 3 — Pie Chart: Attack Distribution by Protocol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5029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640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This Chart Shows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0" y="960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Proportional breakdown of all 40,000 attacks by the network protocol used as the attack vector.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0" y="1600200"/>
            <a:ext cx="3200400" cy="896112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600200"/>
            <a:ext cx="502920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60020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33.18%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63640" y="1627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TCP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63640" y="1901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13,272 attacks — Reliable connections exploited for persistent Malware delivery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2651760"/>
            <a:ext cx="3200400" cy="896112"/>
          </a:xfrm>
          <a:prstGeom prst="rect">
            <a:avLst/>
          </a:prstGeom>
          <a:solidFill>
            <a:srgbClr val="EFF6F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651760"/>
            <a:ext cx="502920" cy="8961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65176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33.25%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63640" y="2679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UDP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2953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13,299 attacks — Connectionless protocol ideal for DDoS amplification attacks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3703320"/>
            <a:ext cx="3200400" cy="896112"/>
          </a:xfrm>
          <a:prstGeom prst="rect">
            <a:avLst/>
          </a:prstGeom>
          <a:solidFill>
            <a:srgbClr val="EFF6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703320"/>
            <a:ext cx="502920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370332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33.57%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63640" y="3730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ICMP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4005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13,429 attacks — Ping-flood and Smurf attack vectors — highest volume overall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Chart 4 — Stacked Bar: Severity Level by Network Segment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640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This Chart Shows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Stacked comparison of High / Medium / Low severity events across the three monitored network segments.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965960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965960"/>
            <a:ext cx="54864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9659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All three segments are nearly identically attacked — no single segment is prioritized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2697480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697480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69748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Segment C carries the most High Severity events (4,512) — marginally higher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429000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429000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42900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Even spread suggests organization-wide vulnerability, not point failure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4160520"/>
            <a:ext cx="29260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4160520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416052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No segment has significantly better mitigation — security gaps are systemic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Chart 6 — Trend Analysis: Blocked vs. Unblocked Over Time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640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This Chart Shows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Side-by-side monthly comparison of total attacks vs. successfully blocked attacks — exposing the widening security gap.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96596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965960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Both lines trend upward — but the gap between them is widening, meaning proportional protection is declining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269748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697480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6974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In March: 3,678 total attacks, only 1,287 blocked — a 2,391-attack exposure gap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42900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42900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429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Block rate has remained static at ~35% despite increasing attack sophistication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416052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416052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4160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Without intervention, monthly unblocked threats will exceed 2,500+ events by mid-year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Chart 7 — Comparative: Action Taken by Log Source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640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This Chart Shows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Comparison of response actions (Blocked, Logged, Ignored) generated by Firewall vs. Server log sources.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96596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965960"/>
            <a:ext cx="54864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Firewall and Server show near-identical action distribution — no significant difference in response patterns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269748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69748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6974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Both sources have their highest output for 'Blocked' — a positive signal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42900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429000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429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'Ignored' events from Firewall (6,716) slightly exceed Server — suggesting firewall policy gaps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4160520"/>
            <a:ext cx="29260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4160520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4160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</a:rPr>
              <a:t>Both sources should contribute equally to automated threat response workflows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 BI Dashboard — Overview</a:t>
            </a:r>
            <a:endParaRPr lang="en-US" sz="1500" dirty="0"/>
          </a:p>
        </p:txBody>
      </p:sp>
      <p:pic>
        <p:nvPicPr>
          <p:cNvPr id="4" name="Image 0" descr="/home/claude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59436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Walkthrough — KPIs &amp; Visual Components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Dashboard Layout Breakdown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60520" cy="114300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64008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42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Top-Left KPI Cards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3502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Four headline metrics — Total Attacks (40K), Blocked Attacks (14K), High Severity (13K), Unique Source IPs (40K). Provide immediate threat status at-a-glance.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87552"/>
            <a:ext cx="4160520" cy="1143000"/>
          </a:xfrm>
          <a:prstGeom prst="rect">
            <a:avLst/>
          </a:prstGeom>
          <a:solidFill>
            <a:srgbClr val="EFF6F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87552"/>
            <a:ext cx="64008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42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Center: Line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33502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'Total Attacks by Month' trend visualization covering 12 months. Enables trend identification, seasonality analysis, and forecasting support.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4160520" cy="1143000"/>
          </a:xfrm>
          <a:prstGeom prst="rect">
            <a:avLst/>
          </a:prstGeom>
          <a:solidFill>
            <a:srgbClr val="EFF6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13432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Top-Right: Stacked Bar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66090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'Attacks Count by Network Segment and Severity Level' — three segments (A/B/C) broken by High/Medium/Low, revealing uniform threat distribution.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313432"/>
            <a:ext cx="4160520" cy="1143000"/>
          </a:xfrm>
          <a:prstGeom prst="rect">
            <a:avLst/>
          </a:prstGeom>
          <a:solidFill>
            <a:srgbClr val="EFF6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13432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Bottom-Left: Pie Chart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66090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'Attacks Count by Protocol' showing TCP/UDP/ICMP proportional split. Confirms multi-protocol attack strategy at 33% each.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4160520" cy="1143000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39312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94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Bottom-Center: Bar Chart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98678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'Count of Attack Type' comparing DDoS vs Malware vs Intrusion volumes. Each bar represents ~13K events confirming balanced attack portfolio.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4160520" cy="1143000"/>
          </a:xfrm>
          <a:prstGeom prst="rect">
            <a:avLst/>
          </a:prstGeom>
          <a:solidFill>
            <a:srgbClr val="EFF6FF"/>
          </a:solidFill>
          <a:ln w="1905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39312"/>
            <a:ext cx="64008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94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Bottom-Right: Bar Chart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98678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'Count of Alerts/Warnings by Log Source' — Firewall vs Server each generating 20K alerts, validating equal monitoring coverage.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Insights — Top Findings from the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749808"/>
          </a:xfrm>
          <a:prstGeom prst="rect">
            <a:avLst/>
          </a:prstGeom>
          <a:solidFill>
            <a:srgbClr val="16204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5029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#1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59436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658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Critical Mitigation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9601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Only 35% of attacks are blocked — 26,000 events remain exposed. Industry benchmark is 85%+. This gap represents the organization's single largest security risk.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8595360" cy="749808"/>
          </a:xfrm>
          <a:prstGeom prst="rect">
            <a:avLst/>
          </a:prstGeom>
          <a:solidFill>
            <a:srgbClr val="16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63040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63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#2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146304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53312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Escalating Attack Volume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A consistent 37% growth in attacks over 12 months, with zero decline months, signals an active, persistent threat campaign requiring immediate strategic response.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749808"/>
          </a:xfrm>
          <a:prstGeom prst="rect">
            <a:avLst/>
          </a:prstGeom>
          <a:solidFill>
            <a:srgbClr val="16204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5029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317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#3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233172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53312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Multi-Vector Attack Strategy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53312" y="2697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Perfect 33/33/33 distribution across protocols, attack types, and segments confirms sophisticated adversaries are deliberately avoiding pattern-based detection.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8595360" cy="749808"/>
          </a:xfrm>
          <a:prstGeom prst="rect">
            <a:avLst/>
          </a:prstGeom>
          <a:solidFill>
            <a:srgbClr val="1620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00400"/>
            <a:ext cx="5029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004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#4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320040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53312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Botnet Signature Detected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3566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40,000 unique source IPs for 40,000 attacks suggests IP-rotating botnets — traditional IP-based blocking is ineffective; behavioral analysis is required.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069080"/>
            <a:ext cx="8595360" cy="749808"/>
          </a:xfrm>
          <a:prstGeom prst="rect">
            <a:avLst/>
          </a:prstGeom>
          <a:solidFill>
            <a:srgbClr val="162040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69080"/>
            <a:ext cx="502920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69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#5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6112" y="406908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53312" y="4133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Segment-Wide Vulnerability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53312" y="4434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No network segment shows stronger protection than another. This systemic exposure means architectural segmentation strategy must be revisited.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Recommendations — Actionable Business Strategies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795528"/>
            <a:ext cx="7772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649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Deploy AI-Driven Behavioral 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9601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Replace IP-blocklist approach with ML-based anomaly detection that identifies botnet behavioral patterns regardless of source IP rotation.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06640" y="667512"/>
            <a:ext cx="12801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667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Effort: High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06640" y="1014984"/>
            <a:ext cx="128016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014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</a:rPr>
              <a:t>Impact: Critical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472184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47218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673352"/>
            <a:ext cx="777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98448" y="15270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Increase Block Rate to 70%+ Within 90 Days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183794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Implement automated firewall rule updates for known DDoS signatures. Integrate threat intelligence feeds for real-time IP reputation scoring.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1545336"/>
            <a:ext cx="12801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545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Effort: Medium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06640" y="1892808"/>
            <a:ext cx="128016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</a:rPr>
              <a:t>Impact: High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350008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350008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551176"/>
            <a:ext cx="7772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98448" y="2404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Protocol-Specific Firewall Hardening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27157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Apply rate-limiting and deep packet inspection for ICMP traffic (highest attack vector at 33.57%). Deploy UDP flood protection with connection tracking.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2423160"/>
            <a:ext cx="12801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2423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Effort: Medium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06640" y="2770632"/>
            <a:ext cx="128016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2770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</a:rPr>
              <a:t>Impact: 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227832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227832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429000"/>
            <a:ext cx="7772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29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298448" y="32826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Segment-Level Security Differentiation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98448" y="359359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Since all segments show equal vulnerability, apply zero-trust micro-segmentation with segment-specific access controls and lateral movement prevention.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06640" y="3300984"/>
            <a:ext cx="12801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3300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Effort: High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06640" y="3648456"/>
            <a:ext cx="128016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3648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</a:rPr>
              <a:t>Impact: Medium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4105656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105656"/>
            <a:ext cx="54864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306824"/>
            <a:ext cx="77724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3068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298448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Establish 24/7 SOC Alert Response SLAs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98448" y="447141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Convert all 'Ignored' alerts (13,276 events) into mandatory triage queues. High Severity events must receive response within 15 minutes.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406640" y="4178808"/>
            <a:ext cx="12801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4178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Effort: Low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06640" y="4526280"/>
            <a:ext cx="128016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</a:rPr>
              <a:t>Impact: High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3200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</a:rPr>
              <a:t>Summary of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170432"/>
            <a:ext cx="8275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40,000 attacks analyzed over 12 months with only 35% mitigation rate — well below the 85%+ industry benchmark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517904"/>
            <a:ext cx="8275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Multi-vector attack strategy confirmed: equal split across TCP/UDP/ICMP, DDoS/Malware/Intrusion, and all 3 segments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8275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Monotonic 37% growth in attack volume signals an active, escalating threat campaign with no natural decline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212848"/>
            <a:ext cx="8275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E"/>
                </a:solidFill>
              </a:rPr>
              <a:t>Botnet behavior suspected: 40K unique source IPs rotating with every attack, rendering IP-based blocking ineffective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33472"/>
            <a:ext cx="8321040" cy="274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432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Future Scope &amp; Opportunities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127248"/>
            <a:ext cx="4206240" cy="713232"/>
          </a:xfrm>
          <a:prstGeom prst="rect">
            <a:avLst/>
          </a:prstGeom>
          <a:solidFill>
            <a:srgbClr val="1620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27248"/>
            <a:ext cx="6400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172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ML-Powered Threat Prediction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Train supervised models on historical attack patterns to predict the next attack type and target segment 24 hours in advance.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3127248"/>
            <a:ext cx="4206240" cy="713232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12724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172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Real-Time SIEM Integration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65192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Connect Power BI to a live SIEM data stream for real-time dashboard refreshes and automated alerting via Microsoft Sentinel.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950208"/>
            <a:ext cx="4206240" cy="713232"/>
          </a:xfrm>
          <a:prstGeom prst="rect">
            <a:avLst/>
          </a:prstGeom>
          <a:solidFill>
            <a:srgbClr val="16204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50208"/>
            <a:ext cx="64008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9959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Geo-Spatial Attack Mapping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" y="4251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Leverage the Geo-location Data column to build a world map of attack origins and identify high-risk source regions.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3950208"/>
            <a:ext cx="4206240" cy="713232"/>
          </a:xfrm>
          <a:prstGeom prst="rect">
            <a:avLst/>
          </a:prstGeom>
          <a:solidFill>
            <a:srgbClr val="16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950208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9959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Automated Playbook Generation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5192" y="4251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Use attack signature patterns to auto-generate incident response playbooks, reducing Mean Time to Respond (MTTR) by 60%.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2944</Words>
  <Application>Microsoft Office PowerPoint</Application>
  <PresentationFormat>On-screen Show (16:9)</PresentationFormat>
  <Paragraphs>465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Monitoring Analysis</dc:title>
  <dc:subject>PptxGenJS Presentation</dc:subject>
  <dc:creator>Senior Data Analyst</dc:creator>
  <cp:lastModifiedBy>Sonali Shekhawat</cp:lastModifiedBy>
  <cp:revision>1</cp:revision>
  <dcterms:created xsi:type="dcterms:W3CDTF">2026-03-18T11:28:08Z</dcterms:created>
  <dcterms:modified xsi:type="dcterms:W3CDTF">2026-03-19T10:50:08Z</dcterms:modified>
</cp:coreProperties>
</file>